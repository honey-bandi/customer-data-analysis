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10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3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3806F7-D178-4DF9-A592-D864B3190188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DD267-4FD3-434B-BDB0-8ACD31DA6D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542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DD267-4FD3-434B-BDB0-8ACD31DA6D09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568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21560963-1EEA-4BDE-8FF9-3FEE13B5D43C}" type="datetime1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931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35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72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78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1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5971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1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904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88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349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067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025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539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9555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3082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9372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663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403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64966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759881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0067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2975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03F4C9-1C82-4616-8D26-0B0587291200}" type="datetime1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14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9930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7104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2839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9209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9090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337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815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  <p:sldLayoutId id="2147483914" r:id="rId4"/>
    <p:sldLayoutId id="2147483915" r:id="rId5"/>
    <p:sldLayoutId id="2147483916" r:id="rId6"/>
    <p:sldLayoutId id="2147483917" r:id="rId7"/>
    <p:sldLayoutId id="2147483918" r:id="rId8"/>
    <p:sldLayoutId id="2147483919" r:id="rId9"/>
    <p:sldLayoutId id="2147483920" r:id="rId10"/>
    <p:sldLayoutId id="2147483921" r:id="rId11"/>
    <p:sldLayoutId id="2147483922" r:id="rId12"/>
    <p:sldLayoutId id="2147483923" r:id="rId13"/>
    <p:sldLayoutId id="2147483924" r:id="rId14"/>
    <p:sldLayoutId id="2147483925" r:id="rId15"/>
    <p:sldLayoutId id="2147483926" r:id="rId16"/>
    <p:sldLayoutId id="2147483927" r:id="rId17"/>
    <p:sldLayoutId id="2147483928" r:id="rId18"/>
    <p:sldLayoutId id="2147483929" r:id="rId19"/>
    <p:sldLayoutId id="2147483930" r:id="rId20"/>
    <p:sldLayoutId id="2147483931" r:id="rId21"/>
    <p:sldLayoutId id="2147483932" r:id="rId22"/>
    <p:sldLayoutId id="2147483933" r:id="rId23"/>
    <p:sldLayoutId id="2147483934" r:id="rId24"/>
    <p:sldLayoutId id="2147483935" r:id="rId25"/>
    <p:sldLayoutId id="2147483936" r:id="rId26"/>
    <p:sldLayoutId id="2147483937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961120" y="640080"/>
            <a:ext cx="1920240" cy="192024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2194560"/>
            <a:ext cx="1097280" cy="1097280"/>
          </a:xfrm>
          <a:prstGeom prst="ellipse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046720" y="3931920"/>
            <a:ext cx="2194560" cy="2194560"/>
          </a:xfrm>
          <a:prstGeom prst="ellipse">
            <a:avLst/>
          </a:prstGeom>
          <a:solidFill>
            <a:srgbClr val="1F4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95560" y="4389120"/>
            <a:ext cx="914400" cy="914400"/>
          </a:xfrm>
          <a:prstGeom prst="ellipse">
            <a:avLst/>
          </a:prstGeom>
          <a:solidFill>
            <a:srgbClr val="EEB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16459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CUSTOMER DATA
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6858000" cy="45720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2100" b="0">
                <a:solidFill>
                  <a:srgbClr val="B4DCE8"/>
                </a:solidFill>
                <a:latin typeface="Aptos"/>
              </a:rPr>
              <a:t>Power BI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6858000" cy="82296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Understanding customer behavior, product demand, revenue and payment preferences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89320"/>
            <a:ext cx="7955279" cy="2743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200" b="0">
                <a:solidFill>
                  <a:srgbClr val="C8D2E1"/>
                </a:solidFill>
                <a:latin typeface="Aptos"/>
              </a:rPr>
              <a:t>Dataset: customers_cleaned (1).csv  •  99,457 transaction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27648"/>
            <a:ext cx="6400800" cy="22860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000" b="0">
                <a:solidFill>
                  <a:srgbClr val="A0B4C8"/>
                </a:solidFill>
                <a:latin typeface="Aptos"/>
              </a:rPr>
              <a:t>Project explanation and task-by-task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2800" b="1">
                <a:solidFill>
                  <a:srgbClr val="142546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972800" cy="32004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200" b="0">
                <a:solidFill>
                  <a:srgbClr val="647080"/>
                </a:solidFill>
                <a:latin typeface="Aptos"/>
              </a:rPr>
              <a:t>The goal is to turn transaction records into useful business insights.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914400" cy="54864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r"/>
            <a:r>
              <a:rPr sz="1000" b="0">
                <a:solidFill>
                  <a:srgbClr val="647080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6583680" cy="4206240"/>
          </a:xfrm>
          <a:prstGeom prst="rect">
            <a:avLst/>
          </a:prstGeom>
          <a:noFill/>
        </p:spPr>
        <p:txBody>
          <a:bodyPr wrap="square" lIns="109728" tIns="54864" r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Compare shopping behavior by gender and age group.</a:t>
            </a:r>
          </a:p>
          <a:p>
            <a:pPr>
              <a:spcAft>
                <a:spcPts val="10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Measure items sold and revenue generated.</a:t>
            </a:r>
          </a:p>
          <a:p>
            <a:pPr>
              <a:spcAft>
                <a:spcPts val="10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Identify high-performing product categories and malls.</a:t>
            </a:r>
          </a:p>
          <a:p>
            <a:pPr>
              <a:spcAft>
                <a:spcPts val="10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Understand cash, credit-card and debit-card usage.</a:t>
            </a:r>
          </a:p>
          <a:p>
            <a:pPr>
              <a:spcAft>
                <a:spcPts val="10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Present findings and practical recommendations.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645920"/>
            <a:ext cx="1645920" cy="1051560"/>
          </a:xfrm>
          <a:prstGeom prst="roundRect">
            <a:avLst/>
          </a:prstGeom>
          <a:solidFill>
            <a:srgbClr val="F1F6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818120" y="1645920"/>
            <a:ext cx="73152" cy="105156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82712" y="1755648"/>
            <a:ext cx="1371600" cy="22860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100" b="1">
                <a:solidFill>
                  <a:srgbClr val="647080"/>
                </a:solidFill>
                <a:latin typeface="Aptos"/>
              </a:rPr>
              <a:t>TRANSACTIONS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2712" y="2029968"/>
            <a:ext cx="1371600" cy="43891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2200" b="1">
                <a:solidFill>
                  <a:srgbClr val="142546"/>
                </a:solidFill>
                <a:latin typeface="Aptos"/>
              </a:rPr>
              <a:t>99,457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46920" y="1645920"/>
            <a:ext cx="1645920" cy="1051560"/>
          </a:xfrm>
          <a:prstGeom prst="roundRect">
            <a:avLst/>
          </a:prstGeom>
          <a:solidFill>
            <a:srgbClr val="F1F6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646920" y="1645920"/>
            <a:ext cx="73152" cy="105156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11512" y="1755648"/>
            <a:ext cx="1371600" cy="22860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100" b="1">
                <a:solidFill>
                  <a:srgbClr val="647080"/>
                </a:solidFill>
                <a:latin typeface="Aptos"/>
              </a:rPr>
              <a:t>ATTRIBUTES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1512" y="2029968"/>
            <a:ext cx="1371600" cy="43891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2200" b="1">
                <a:solidFill>
                  <a:srgbClr val="142546"/>
                </a:solidFill>
                <a:latin typeface="Aptos"/>
              </a:rPr>
              <a:t>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2971800"/>
            <a:ext cx="1645920" cy="1051560"/>
          </a:xfrm>
          <a:prstGeom prst="roundRect">
            <a:avLst/>
          </a:prstGeom>
          <a:solidFill>
            <a:srgbClr val="F1F6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18120" y="2971800"/>
            <a:ext cx="73152" cy="1051560"/>
          </a:xfrm>
          <a:prstGeom prst="rect">
            <a:avLst/>
          </a:prstGeom>
          <a:solidFill>
            <a:srgbClr val="EEB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82712" y="3081528"/>
            <a:ext cx="1371600" cy="22860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100" b="1">
                <a:solidFill>
                  <a:srgbClr val="647080"/>
                </a:solidFill>
                <a:latin typeface="Aptos"/>
              </a:rPr>
              <a:t>UNITS SOLD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712" y="3355848"/>
            <a:ext cx="1371600" cy="43891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2200" b="1">
                <a:solidFill>
                  <a:srgbClr val="142546"/>
                </a:solidFill>
                <a:latin typeface="Aptos"/>
              </a:rPr>
              <a:t>298,712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20" y="2971800"/>
            <a:ext cx="1645920" cy="1051560"/>
          </a:xfrm>
          <a:prstGeom prst="roundRect">
            <a:avLst/>
          </a:prstGeom>
          <a:solidFill>
            <a:srgbClr val="F1F6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646920" y="2971800"/>
            <a:ext cx="73152" cy="105156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11512" y="3081528"/>
            <a:ext cx="1371600" cy="22860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100" b="1">
                <a:solidFill>
                  <a:srgbClr val="647080"/>
                </a:solidFill>
                <a:latin typeface="Aptos"/>
              </a:rPr>
              <a:t>CATEGORIES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1512" y="3355848"/>
            <a:ext cx="1371600" cy="43891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2200" b="1">
                <a:solidFill>
                  <a:srgbClr val="142546"/>
                </a:solidFill>
                <a:latin typeface="Aptos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434840"/>
            <a:ext cx="3474720" cy="7315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500" b="1">
                <a:solidFill>
                  <a:srgbClr val="647080"/>
                </a:solidFill>
                <a:latin typeface="Aptos"/>
              </a:rPr>
              <a:t>Period: Jan 2021 – Mar 2023
10 malls • Customer ages 18–69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2800" b="1">
                <a:solidFill>
                  <a:srgbClr val="142546"/>
                </a:solidFill>
                <a:latin typeface="Aptos"/>
              </a:rPr>
              <a:t>Dataset and attribute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972800" cy="32004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200" b="0">
                <a:solidFill>
                  <a:srgbClr val="647080"/>
                </a:solidFill>
                <a:latin typeface="Aptos"/>
              </a:rPr>
              <a:t>Each row represents one recorded transaction.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914400" cy="54864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r"/>
            <a:r>
              <a:rPr sz="1000" b="0">
                <a:solidFill>
                  <a:srgbClr val="647080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658368"/>
          </a:xfrm>
          <a:prstGeom prst="roundRect">
            <a:avLst/>
          </a:prstGeom>
          <a:solidFill>
            <a:srgbClr val="F1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645920" cy="237744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200" b="1">
                <a:solidFill>
                  <a:srgbClr val="009696"/>
                </a:solidFill>
                <a:latin typeface="Aptos"/>
              </a:rPr>
              <a:t>invoice_no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581912"/>
            <a:ext cx="3291840" cy="45720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200" b="0">
                <a:solidFill>
                  <a:srgbClr val="28303C"/>
                </a:solidFill>
                <a:latin typeface="Aptos"/>
              </a:rPr>
              <a:t>Unique invoice / transaction 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59152"/>
            <a:ext cx="5212080" cy="658368"/>
          </a:xfrm>
          <a:prstGeom prst="roundRect">
            <a:avLst/>
          </a:prstGeom>
          <a:solidFill>
            <a:srgbClr val="F1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450592"/>
            <a:ext cx="1645920" cy="237744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200" b="1">
                <a:solidFill>
                  <a:srgbClr val="009696"/>
                </a:solidFill>
                <a:latin typeface="Aptos"/>
              </a:rPr>
              <a:t>customer_id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32304"/>
            <a:ext cx="3291840" cy="45720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200" b="0">
                <a:solidFill>
                  <a:srgbClr val="28303C"/>
                </a:solidFill>
                <a:latin typeface="Aptos"/>
              </a:rPr>
              <a:t>Customer identifier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9544"/>
            <a:ext cx="5212080" cy="658368"/>
          </a:xfrm>
          <a:prstGeom prst="roundRect">
            <a:avLst/>
          </a:prstGeom>
          <a:solidFill>
            <a:srgbClr val="F1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300984"/>
            <a:ext cx="1645920" cy="237744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200" b="1">
                <a:solidFill>
                  <a:srgbClr val="009696"/>
                </a:solidFill>
                <a:latin typeface="Aptos"/>
              </a:rPr>
              <a:t>gender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282696"/>
            <a:ext cx="3291840" cy="45720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200" b="0">
                <a:solidFill>
                  <a:srgbClr val="28303C"/>
                </a:solidFill>
                <a:latin typeface="Aptos"/>
              </a:rPr>
              <a:t>Female or Male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59935"/>
            <a:ext cx="5212080" cy="658368"/>
          </a:xfrm>
          <a:prstGeom prst="roundRect">
            <a:avLst/>
          </a:prstGeom>
          <a:solidFill>
            <a:srgbClr val="F1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151375"/>
            <a:ext cx="1645920" cy="237744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200" b="1">
                <a:solidFill>
                  <a:srgbClr val="009696"/>
                </a:solidFill>
                <a:latin typeface="Aptos"/>
              </a:rPr>
              <a:t>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133087"/>
            <a:ext cx="3291840" cy="45720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200" b="0">
                <a:solidFill>
                  <a:srgbClr val="28303C"/>
                </a:solidFill>
                <a:latin typeface="Aptos"/>
              </a:rPr>
              <a:t>Customer age in years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10328"/>
            <a:ext cx="5212080" cy="658368"/>
          </a:xfrm>
          <a:prstGeom prst="roundRect">
            <a:avLst/>
          </a:prstGeom>
          <a:solidFill>
            <a:srgbClr val="F1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001768"/>
            <a:ext cx="1645920" cy="237744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200" b="1">
                <a:solidFill>
                  <a:srgbClr val="009696"/>
                </a:solidFill>
                <a:latin typeface="Aptos"/>
              </a:rPr>
              <a:t>category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983480"/>
            <a:ext cx="3291840" cy="45720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200" b="0">
                <a:solidFill>
                  <a:srgbClr val="28303C"/>
                </a:solidFill>
                <a:latin typeface="Aptos"/>
              </a:rPr>
              <a:t>Product category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508760"/>
            <a:ext cx="5212080" cy="658368"/>
          </a:xfrm>
          <a:prstGeom prst="roundRect">
            <a:avLst/>
          </a:prstGeom>
          <a:solidFill>
            <a:srgbClr val="F1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1600200"/>
            <a:ext cx="1645920" cy="237744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200" b="1">
                <a:solidFill>
                  <a:srgbClr val="009696"/>
                </a:solidFill>
                <a:latin typeface="Aptos"/>
              </a:rPr>
              <a:t>quantity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1581912"/>
            <a:ext cx="3291840" cy="45720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200" b="0">
                <a:solidFill>
                  <a:srgbClr val="28303C"/>
                </a:solidFill>
                <a:latin typeface="Aptos"/>
              </a:rPr>
              <a:t>Number of items purchased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359152"/>
            <a:ext cx="5212080" cy="658368"/>
          </a:xfrm>
          <a:prstGeom prst="roundRect">
            <a:avLst/>
          </a:prstGeom>
          <a:solidFill>
            <a:srgbClr val="F1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2450592"/>
            <a:ext cx="1645920" cy="237744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200" b="1">
                <a:solidFill>
                  <a:srgbClr val="009696"/>
                </a:solidFill>
                <a:latin typeface="Aptos"/>
              </a:rPr>
              <a:t>price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432304"/>
            <a:ext cx="3291840" cy="45720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200" b="0">
                <a:solidFill>
                  <a:srgbClr val="28303C"/>
                </a:solidFill>
                <a:latin typeface="Aptos"/>
              </a:rPr>
              <a:t>Unit price in Turkish lira (TL)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209544"/>
            <a:ext cx="5212080" cy="658368"/>
          </a:xfrm>
          <a:prstGeom prst="roundRect">
            <a:avLst/>
          </a:prstGeom>
          <a:solidFill>
            <a:srgbClr val="F1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3300984"/>
            <a:ext cx="1645920" cy="237744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200" b="1">
                <a:solidFill>
                  <a:srgbClr val="009696"/>
                </a:solidFill>
                <a:latin typeface="Aptos"/>
              </a:rPr>
              <a:t>payment_method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3282696"/>
            <a:ext cx="3291840" cy="45720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200" b="0">
                <a:solidFill>
                  <a:srgbClr val="28303C"/>
                </a:solidFill>
                <a:latin typeface="Aptos"/>
              </a:rPr>
              <a:t>Cash, Credit Card or Debit Card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059935"/>
            <a:ext cx="5212080" cy="658368"/>
          </a:xfrm>
          <a:prstGeom prst="roundRect">
            <a:avLst/>
          </a:prstGeom>
          <a:solidFill>
            <a:srgbClr val="F1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4151375"/>
            <a:ext cx="1645920" cy="237744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200" b="1">
                <a:solidFill>
                  <a:srgbClr val="009696"/>
                </a:solidFill>
                <a:latin typeface="Aptos"/>
              </a:rPr>
              <a:t>invoice_date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133087"/>
            <a:ext cx="3291840" cy="45720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200" b="0">
                <a:solidFill>
                  <a:srgbClr val="28303C"/>
                </a:solidFill>
                <a:latin typeface="Aptos"/>
              </a:rPr>
              <a:t>Date of transaction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910328"/>
            <a:ext cx="5212080" cy="658368"/>
          </a:xfrm>
          <a:prstGeom prst="roundRect">
            <a:avLst/>
          </a:prstGeom>
          <a:solidFill>
            <a:srgbClr val="F1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60" y="5001768"/>
            <a:ext cx="1645920" cy="237744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200" b="1">
                <a:solidFill>
                  <a:srgbClr val="009696"/>
                </a:solidFill>
                <a:latin typeface="Aptos"/>
              </a:rPr>
              <a:t>shopping_mall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983480"/>
            <a:ext cx="3291840" cy="45720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200" b="0">
                <a:solidFill>
                  <a:srgbClr val="28303C"/>
                </a:solidFill>
                <a:latin typeface="Aptos"/>
              </a:rPr>
              <a:t>Mall where purchase occurred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989320"/>
            <a:ext cx="10698480" cy="32004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300" b="1">
                <a:solidFill>
                  <a:srgbClr val="647080"/>
                </a:solidFill>
                <a:latin typeface="Aptos"/>
              </a:rPr>
              <a:t>Quality check: no missing values or fully duplicated rows were found in the uploaded CSV.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2800" b="1">
                <a:solidFill>
                  <a:srgbClr val="142546"/>
                </a:solidFill>
                <a:latin typeface="Aptos"/>
              </a:rPr>
              <a:t>Core calculations (DAX)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972800" cy="32004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200" b="0">
                <a:solidFill>
                  <a:srgbClr val="647080"/>
                </a:solidFill>
                <a:latin typeface="Aptos"/>
              </a:rPr>
              <a:t>Select Modeling → New measure for each formula.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914400" cy="54864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r"/>
            <a:r>
              <a:rPr sz="1000" b="0">
                <a:solidFill>
                  <a:srgbClr val="647080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1600200"/>
          </a:xfrm>
          <a:prstGeom prst="roundRect">
            <a:avLst/>
          </a:prstGeom>
          <a:solidFill>
            <a:srgbClr val="F1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2743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400" b="1">
                <a:solidFill>
                  <a:srgbClr val="009696"/>
                </a:solidFill>
                <a:latin typeface="Aptos"/>
              </a:rPr>
              <a:t>Total Transactions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30552"/>
            <a:ext cx="4800600" cy="86868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200" b="0">
                <a:solidFill>
                  <a:srgbClr val="28303C"/>
                </a:solidFill>
                <a:latin typeface="Aptos"/>
              </a:rPr>
              <a:t>Total Transactions = DISTINCTCOUNT(customers_cleaned[invoice_no])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00200"/>
            <a:ext cx="5212080" cy="1600200"/>
          </a:xfrm>
          <a:prstGeom prst="roundRect">
            <a:avLst/>
          </a:prstGeom>
          <a:solidFill>
            <a:srgbClr val="F1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754880" cy="2743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400" b="1">
                <a:solidFill>
                  <a:srgbClr val="009696"/>
                </a:solidFill>
                <a:latin typeface="Aptos"/>
              </a:rPr>
              <a:t>Total Quantity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30552"/>
            <a:ext cx="4800600" cy="86868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200" b="0">
                <a:solidFill>
                  <a:srgbClr val="28303C"/>
                </a:solidFill>
                <a:latin typeface="Aptos"/>
              </a:rPr>
              <a:t>Total Quantity = SUM(customers_cleaned[quantity])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11880"/>
            <a:ext cx="5212080" cy="1600200"/>
          </a:xfrm>
          <a:prstGeom prst="roundRect">
            <a:avLst/>
          </a:prstGeom>
          <a:solidFill>
            <a:srgbClr val="F1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749040"/>
            <a:ext cx="4754880" cy="2743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400" b="1">
                <a:solidFill>
                  <a:srgbClr val="009696"/>
                </a:solidFill>
                <a:latin typeface="Aptos"/>
              </a:rPr>
              <a:t>Total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42232"/>
            <a:ext cx="4800600" cy="86868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200" b="0">
                <a:solidFill>
                  <a:srgbClr val="28303C"/>
                </a:solidFill>
                <a:latin typeface="Aptos"/>
              </a:rPr>
              <a:t>Total Revenue = SUMX(customers_cleaned, customers_cleaned[quantity] * customers_cleaned[price])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611880"/>
            <a:ext cx="5212080" cy="1600200"/>
          </a:xfrm>
          <a:prstGeom prst="roundRect">
            <a:avLst/>
          </a:prstGeom>
          <a:solidFill>
            <a:srgbClr val="F1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3749040"/>
            <a:ext cx="4754880" cy="2743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400" b="1">
                <a:solidFill>
                  <a:srgbClr val="009696"/>
                </a:solidFill>
                <a:latin typeface="Aptos"/>
              </a:rPr>
              <a:t>Average Transaction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142232"/>
            <a:ext cx="4800600" cy="86868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200" b="0">
                <a:solidFill>
                  <a:srgbClr val="28303C"/>
                </a:solidFill>
                <a:latin typeface="Aptos"/>
              </a:rPr>
              <a:t>Average Transaction Value = DIVIDE([Total Revenue], [Total Transactions], 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515600" cy="32004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200" b="0">
                <a:solidFill>
                  <a:srgbClr val="647080"/>
                </a:solidFill>
                <a:latin typeface="Aptos"/>
              </a:rPr>
              <a:t>Replace customers_cleaned if your actual Power BI table name is different.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2800" b="1">
                <a:solidFill>
                  <a:srgbClr val="142546"/>
                </a:solidFill>
                <a:latin typeface="Aptos"/>
              </a:rPr>
              <a:t>Task 1: Shopping distribution by gender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08533"/>
            <a:ext cx="10972800" cy="390876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lang="en-US" sz="2000" b="0" dirty="0">
                <a:solidFill>
                  <a:schemeClr val="bg1"/>
                </a:solidFill>
                <a:latin typeface="Aptos"/>
              </a:rPr>
              <a:t>How is the shopping distribution according to Gender?</a:t>
            </a:r>
            <a:endParaRPr sz="20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 rot="10800000" flipV="1">
            <a:off x="685800" y="1211330"/>
            <a:ext cx="5891981" cy="4572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r"/>
            <a:r>
              <a:rPr sz="1000" b="0">
                <a:solidFill>
                  <a:srgbClr val="647080"/>
                </a:solidFill>
                <a:latin typeface="Aptos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61488"/>
            <a:ext cx="4754880" cy="298543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400" b="0" dirty="0">
                <a:solidFill>
                  <a:srgbClr val="28303C"/>
                </a:solidFill>
                <a:latin typeface="Aptos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90708" y="1554480"/>
            <a:ext cx="22860" cy="4526280"/>
          </a:xfrm>
          <a:prstGeom prst="rect">
            <a:avLst/>
          </a:prstGeom>
          <a:solidFill>
            <a:srgbClr val="DA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20740" y="2031376"/>
            <a:ext cx="5303520" cy="513987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sz="1400" dirty="0">
                <a:solidFill>
                  <a:srgbClr val="142546"/>
                </a:solidFill>
                <a:latin typeface="Aptos"/>
              </a:rPr>
              <a:t>Female: 59,482 (59.8%)</a:t>
            </a:r>
            <a:endParaRPr lang="en-US" sz="1400" dirty="0">
              <a:solidFill>
                <a:srgbClr val="142546"/>
              </a:solidFill>
              <a:latin typeface="Aptos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sz="1400" dirty="0">
                <a:solidFill>
                  <a:srgbClr val="142546"/>
                </a:solidFill>
                <a:latin typeface="Aptos"/>
              </a:rPr>
              <a:t>Male: 39,975 (40.2%).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0740" y="2546044"/>
            <a:ext cx="5303520" cy="513987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sz="1400" b="0" dirty="0">
                <a:solidFill>
                  <a:srgbClr val="28303C"/>
                </a:solidFill>
                <a:latin typeface="Aptos"/>
              </a:rPr>
              <a:t>Female customers represent the larger share of recorded transactions.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8551596-4769-5488-0C48-51FF8B1D9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1512122"/>
            <a:ext cx="5096796" cy="43097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2800" b="1">
                <a:solidFill>
                  <a:srgbClr val="142546"/>
                </a:solidFill>
                <a:latin typeface="Aptos"/>
              </a:rPr>
              <a:t>Task 2: Products sold by gender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1"/>
            <a:ext cx="4983480" cy="45719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r"/>
            <a:r>
              <a:rPr sz="1000" b="0">
                <a:solidFill>
                  <a:srgbClr val="647080"/>
                </a:solidFill>
                <a:latin typeface="Aptos"/>
              </a:rPr>
              <a:t>07</a:t>
            </a:r>
          </a:p>
        </p:txBody>
      </p:sp>
      <p:sp>
        <p:nvSpPr>
          <p:cNvPr id="13" name="Rectangle 12"/>
          <p:cNvSpPr/>
          <p:nvPr/>
        </p:nvSpPr>
        <p:spPr>
          <a:xfrm flipH="1">
            <a:off x="5696317" y="1508760"/>
            <a:ext cx="45719" cy="4965192"/>
          </a:xfrm>
          <a:prstGeom prst="rect">
            <a:avLst/>
          </a:prstGeom>
          <a:solidFill>
            <a:srgbClr val="DA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97880" y="1783080"/>
            <a:ext cx="5303520" cy="513987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sz="1400" dirty="0">
                <a:solidFill>
                  <a:srgbClr val="142546"/>
                </a:solidFill>
                <a:latin typeface="Aptos"/>
              </a:rPr>
              <a:t>Female: 178,659 units</a:t>
            </a:r>
            <a:endParaRPr lang="en-US" sz="1400" dirty="0">
              <a:solidFill>
                <a:srgbClr val="142546"/>
              </a:solidFill>
              <a:latin typeface="Aptos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sz="1400" dirty="0">
                <a:solidFill>
                  <a:srgbClr val="142546"/>
                </a:solidFill>
                <a:latin typeface="Aptos"/>
              </a:rPr>
              <a:t> Male: 120,053 units.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DE6A25-4D29-AA71-7FD2-8CFB7B0826A1}"/>
              </a:ext>
            </a:extLst>
          </p:cNvPr>
          <p:cNvSpPr txBox="1"/>
          <p:nvPr/>
        </p:nvSpPr>
        <p:spPr>
          <a:xfrm>
            <a:off x="594360" y="804333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142546"/>
                </a:solidFill>
                <a:latin typeface="Aptos"/>
              </a:rPr>
              <a:t>Which gender purchased the greatest number of items?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8572688-08AA-7532-B908-E3385ACE2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50" y="1474799"/>
            <a:ext cx="4846740" cy="49991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2800" b="1">
                <a:solidFill>
                  <a:srgbClr val="142546"/>
                </a:solidFill>
                <a:latin typeface="Aptos"/>
              </a:rPr>
              <a:t>Task 3: Revenue by gender</a:t>
            </a:r>
          </a:p>
        </p:txBody>
      </p:sp>
      <p:sp>
        <p:nvSpPr>
          <p:cNvPr id="4" name="Rectangle 3"/>
          <p:cNvSpPr/>
          <p:nvPr/>
        </p:nvSpPr>
        <p:spPr>
          <a:xfrm flipV="1">
            <a:off x="685800" y="1170139"/>
            <a:ext cx="3941752" cy="45719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r"/>
            <a:r>
              <a:rPr sz="1000" b="0">
                <a:solidFill>
                  <a:srgbClr val="647080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19906"/>
            <a:ext cx="4754880" cy="329321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600" dirty="0">
                <a:solidFill>
                  <a:srgbClr val="142546"/>
                </a:solidFill>
                <a:latin typeface="Aptos"/>
              </a:rPr>
              <a:t>Which gender generated more sales revenue?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60" y="1508760"/>
            <a:ext cx="22860" cy="4526280"/>
          </a:xfrm>
          <a:prstGeom prst="rect">
            <a:avLst/>
          </a:prstGeom>
          <a:solidFill>
            <a:srgbClr val="DA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97880" y="1796796"/>
            <a:ext cx="5303520" cy="513987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§"/>
            </a:pPr>
            <a:r>
              <a:rPr sz="1400" dirty="0">
                <a:solidFill>
                  <a:srgbClr val="142546"/>
                </a:solidFill>
                <a:latin typeface="Aptos"/>
              </a:rPr>
              <a:t>Female: TL 150.21M</a:t>
            </a:r>
            <a:endParaRPr lang="en-US" sz="1400" dirty="0">
              <a:solidFill>
                <a:srgbClr val="142546"/>
              </a:solidFill>
              <a:latin typeface="Aptos"/>
            </a:endParaRP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sz="1400" dirty="0">
                <a:solidFill>
                  <a:srgbClr val="142546"/>
                </a:solidFill>
                <a:latin typeface="Aptos"/>
              </a:rPr>
              <a:t> Male: TL 101.30M.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2278310"/>
            <a:ext cx="5303520" cy="513987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sz="1400" b="0" dirty="0">
                <a:solidFill>
                  <a:srgbClr val="28303C"/>
                </a:solidFill>
                <a:latin typeface="Aptos"/>
              </a:rPr>
              <a:t>Female customers generate more total revenue, alongside more transactions.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74780FC-59A1-D176-3484-8ADE94A4D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76" y="1508760"/>
            <a:ext cx="4892464" cy="4610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2800" b="1">
                <a:solidFill>
                  <a:srgbClr val="142546"/>
                </a:solidFill>
                <a:latin typeface="Aptos"/>
              </a:rPr>
              <a:t>Task 4: Purchase categories and gender</a:t>
            </a:r>
          </a:p>
        </p:txBody>
      </p:sp>
      <p:sp>
        <p:nvSpPr>
          <p:cNvPr id="4" name="Rectangle 3"/>
          <p:cNvSpPr/>
          <p:nvPr/>
        </p:nvSpPr>
        <p:spPr>
          <a:xfrm flipV="1">
            <a:off x="685799" y="1129283"/>
            <a:ext cx="4594123" cy="45719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r"/>
            <a:r>
              <a:rPr sz="1000" b="0">
                <a:solidFill>
                  <a:srgbClr val="647080"/>
                </a:solidFill>
                <a:latin typeface="Apto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36538"/>
            <a:ext cx="5300202" cy="329321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600" dirty="0">
                <a:solidFill>
                  <a:srgbClr val="142546"/>
                </a:solidFill>
                <a:latin typeface="Aptos"/>
              </a:rPr>
              <a:t>How do product categories compare across genders?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60" y="1508760"/>
            <a:ext cx="22860" cy="4526280"/>
          </a:xfrm>
          <a:prstGeom prst="rect">
            <a:avLst/>
          </a:prstGeom>
          <a:solidFill>
            <a:srgbClr val="DA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97880" y="1783080"/>
            <a:ext cx="5303520" cy="513987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sz="1400" dirty="0">
                <a:solidFill>
                  <a:srgbClr val="142546"/>
                </a:solidFill>
                <a:latin typeface="Aptos"/>
              </a:rPr>
              <a:t>Clothing is largest by transaction count: 34,487. </a:t>
            </a:r>
            <a:endParaRPr lang="en-US" sz="1400" dirty="0">
              <a:solidFill>
                <a:srgbClr val="142546"/>
              </a:solidFill>
              <a:latin typeface="Aptos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sz="1400" dirty="0">
                <a:solidFill>
                  <a:srgbClr val="142546"/>
                </a:solidFill>
                <a:latin typeface="Aptos"/>
              </a:rPr>
              <a:t>Female clothing revenue is higher than male clothing revenue.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7731102-B07E-92AC-B5FB-E6E7BFD1C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54138"/>
            <a:ext cx="4983480" cy="45224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7090" y="325448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2800" b="1" dirty="0">
                <a:solidFill>
                  <a:srgbClr val="142546"/>
                </a:solidFill>
                <a:latin typeface="Aptos"/>
              </a:rPr>
              <a:t>Task 5: Shopping distribution by age</a:t>
            </a:r>
          </a:p>
        </p:txBody>
      </p:sp>
      <p:sp>
        <p:nvSpPr>
          <p:cNvPr id="4" name="Rectangle 3"/>
          <p:cNvSpPr/>
          <p:nvPr/>
        </p:nvSpPr>
        <p:spPr>
          <a:xfrm flipV="1">
            <a:off x="492596" y="1085268"/>
            <a:ext cx="4384204" cy="45719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r"/>
            <a:r>
              <a:rPr sz="1000" b="0">
                <a:solidFill>
                  <a:srgbClr val="647080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5581" y="801666"/>
            <a:ext cx="4754880" cy="329321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600" dirty="0">
                <a:solidFill>
                  <a:srgbClr val="142546"/>
                </a:solidFill>
                <a:latin typeface="Aptos"/>
              </a:rPr>
              <a:t>How many transactions belong to each age group?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60" y="1508760"/>
            <a:ext cx="22860" cy="4526280"/>
          </a:xfrm>
          <a:prstGeom prst="rect">
            <a:avLst/>
          </a:prstGeom>
          <a:solidFill>
            <a:srgbClr val="DA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97880" y="1783080"/>
            <a:ext cx="5303520" cy="513987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sz="1400" dirty="0">
                <a:solidFill>
                  <a:srgbClr val="142546"/>
                </a:solidFill>
                <a:latin typeface="Aptos"/>
              </a:rPr>
              <a:t>Age 30–39 has the most transactions: 19,287.</a:t>
            </a:r>
            <a:endParaRPr lang="en-US" sz="1400" dirty="0">
              <a:solidFill>
                <a:srgbClr val="142546"/>
              </a:solidFill>
              <a:latin typeface="Aptos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sz="1400" dirty="0">
                <a:solidFill>
                  <a:srgbClr val="142546"/>
                </a:solidFill>
                <a:latin typeface="Aptos"/>
              </a:rPr>
              <a:t>Groups 20–69 are otherwise relatively similar.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F713AF0-F6D0-BF4A-21F9-F21437A70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52" y="1625568"/>
            <a:ext cx="5131578" cy="45114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2800" b="1">
                <a:solidFill>
                  <a:srgbClr val="142546"/>
                </a:solidFill>
                <a:latin typeface="Aptos"/>
              </a:rPr>
              <a:t>Task 6: Products sold by age group</a:t>
            </a:r>
          </a:p>
        </p:txBody>
      </p:sp>
      <p:sp>
        <p:nvSpPr>
          <p:cNvPr id="4" name="Rectangle 3"/>
          <p:cNvSpPr/>
          <p:nvPr/>
        </p:nvSpPr>
        <p:spPr>
          <a:xfrm flipV="1">
            <a:off x="689239" y="1301045"/>
            <a:ext cx="4059741" cy="45719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r"/>
            <a:r>
              <a:rPr sz="1000" b="0">
                <a:solidFill>
                  <a:srgbClr val="647080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97630"/>
            <a:ext cx="4754880" cy="34471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700" dirty="0">
                <a:solidFill>
                  <a:srgbClr val="142546"/>
                </a:solidFill>
                <a:latin typeface="Aptos"/>
              </a:rPr>
              <a:t>Which age group purchased the most units?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60" y="1508760"/>
            <a:ext cx="22860" cy="4526280"/>
          </a:xfrm>
          <a:prstGeom prst="rect">
            <a:avLst/>
          </a:prstGeom>
          <a:solidFill>
            <a:srgbClr val="DA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97880" y="1783080"/>
            <a:ext cx="5303520" cy="513987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sz="1400" dirty="0">
                <a:solidFill>
                  <a:srgbClr val="142546"/>
                </a:solidFill>
                <a:latin typeface="Aptos"/>
              </a:rPr>
              <a:t>Age 20–29 purchased 57,949 units, </a:t>
            </a:r>
            <a:endParaRPr lang="en-US" sz="1400" dirty="0">
              <a:solidFill>
                <a:srgbClr val="142546"/>
              </a:solidFill>
              <a:latin typeface="Aptos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sz="1400" dirty="0">
                <a:solidFill>
                  <a:srgbClr val="142546"/>
                </a:solidFill>
                <a:latin typeface="Aptos"/>
              </a:rPr>
              <a:t>closely followed by 30–39 with 57,875.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2566082"/>
            <a:ext cx="2926080" cy="329321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600" b="1" dirty="0">
                <a:solidFill>
                  <a:srgbClr val="009696"/>
                </a:solidFill>
                <a:latin typeface="Aptos"/>
              </a:rPr>
              <a:t>BUSINESS SUGGESTION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3006655"/>
            <a:ext cx="5303520" cy="123444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400" b="0" dirty="0">
                <a:solidFill>
                  <a:srgbClr val="28303C"/>
                </a:solidFill>
                <a:latin typeface="Aptos"/>
              </a:rPr>
              <a:t>Compare units with revenue and average transaction value to see whether high-volume groups also make high-value purchases.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0FE8D50-EEC4-0037-8A6B-4D40510DA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080"/>
            <a:ext cx="4903470" cy="42751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2800" b="1">
                <a:solidFill>
                  <a:srgbClr val="142546"/>
                </a:solidFill>
                <a:latin typeface="Aptos"/>
              </a:rPr>
              <a:t>Task 7: Revenue by age group</a:t>
            </a:r>
          </a:p>
        </p:txBody>
      </p:sp>
      <p:sp>
        <p:nvSpPr>
          <p:cNvPr id="4" name="Rectangle 3"/>
          <p:cNvSpPr/>
          <p:nvPr/>
        </p:nvSpPr>
        <p:spPr>
          <a:xfrm flipV="1">
            <a:off x="685800" y="1161289"/>
            <a:ext cx="4236720" cy="45719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r"/>
            <a:r>
              <a:rPr sz="1000" b="0">
                <a:solidFill>
                  <a:srgbClr val="647080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77824"/>
            <a:ext cx="4754880" cy="329321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600" dirty="0">
                <a:solidFill>
                  <a:srgbClr val="142546"/>
                </a:solidFill>
                <a:latin typeface="Aptos"/>
              </a:rPr>
              <a:t>Which age group generated the highest revenue?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60" y="1508760"/>
            <a:ext cx="22860" cy="4526280"/>
          </a:xfrm>
          <a:prstGeom prst="rect">
            <a:avLst/>
          </a:prstGeom>
          <a:solidFill>
            <a:srgbClr val="DA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97880" y="1783080"/>
            <a:ext cx="5303520" cy="513987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sz="1400" dirty="0">
                <a:solidFill>
                  <a:srgbClr val="142546"/>
                </a:solidFill>
                <a:latin typeface="Aptos"/>
              </a:rPr>
              <a:t>Age 40–49 leads with TL 49.23M. </a:t>
            </a:r>
            <a:endParaRPr lang="en-US" sz="1400" dirty="0">
              <a:solidFill>
                <a:srgbClr val="142546"/>
              </a:solidFill>
              <a:latin typeface="Aptos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sz="1400" dirty="0">
                <a:solidFill>
                  <a:srgbClr val="142546"/>
                </a:solidFill>
                <a:latin typeface="Aptos"/>
              </a:rPr>
              <a:t>Under 20 contributes TL 9.05M.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D8E40FF-2CFA-0BF9-CD57-08961DBA3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38" y="1744563"/>
            <a:ext cx="4977827" cy="42523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346587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2800" b="1" dirty="0">
                <a:solidFill>
                  <a:srgbClr val="142546"/>
                </a:solidFill>
                <a:latin typeface="Aptos"/>
              </a:rPr>
              <a:t>Task 8: Purchase categories and 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4192" y="1212318"/>
            <a:ext cx="4882208" cy="45719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r"/>
            <a:r>
              <a:rPr sz="1000" b="0">
                <a:solidFill>
                  <a:srgbClr val="647080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4192" y="946669"/>
            <a:ext cx="5042228" cy="57554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600" dirty="0">
                <a:solidFill>
                  <a:srgbClr val="142546"/>
                </a:solidFill>
                <a:latin typeface="Aptos"/>
              </a:rPr>
              <a:t>Which </a:t>
            </a:r>
            <a:r>
              <a:rPr sz="1400" dirty="0">
                <a:solidFill>
                  <a:srgbClr val="142546"/>
                </a:solidFill>
                <a:latin typeface="Aptos"/>
              </a:rPr>
              <a:t>categories</a:t>
            </a:r>
            <a:r>
              <a:rPr sz="1600" dirty="0">
                <a:solidFill>
                  <a:srgbClr val="142546"/>
                </a:solidFill>
                <a:latin typeface="Aptos"/>
              </a:rPr>
              <a:t> are purchased by different age</a:t>
            </a:r>
            <a:r>
              <a:rPr lang="en-US" sz="1600" dirty="0">
                <a:solidFill>
                  <a:srgbClr val="142546"/>
                </a:solidFill>
                <a:latin typeface="Aptos"/>
              </a:rPr>
              <a:t> groups? </a:t>
            </a:r>
          </a:p>
          <a:p>
            <a:pPr algn="l"/>
            <a:endParaRPr sz="1600" dirty="0">
              <a:solidFill>
                <a:srgbClr val="142546"/>
              </a:solidFill>
              <a:latin typeface="Apto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623560" y="1508760"/>
            <a:ext cx="22860" cy="4526280"/>
          </a:xfrm>
          <a:prstGeom prst="rect">
            <a:avLst/>
          </a:prstGeom>
          <a:solidFill>
            <a:srgbClr val="DA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97880" y="1783080"/>
            <a:ext cx="5303520" cy="72943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sz="1400" dirty="0">
                <a:solidFill>
                  <a:srgbClr val="142546"/>
                </a:solidFill>
                <a:latin typeface="Aptos"/>
              </a:rPr>
              <a:t>Use the chart to identify each age group's highest-count or highest-revenue categories</a:t>
            </a:r>
            <a:endParaRPr lang="en-US" sz="1400" dirty="0">
              <a:solidFill>
                <a:srgbClr val="142546"/>
              </a:solidFill>
              <a:latin typeface="Aptos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sz="1400" dirty="0">
                <a:solidFill>
                  <a:srgbClr val="142546"/>
                </a:solidFill>
                <a:latin typeface="Aptos"/>
              </a:rPr>
              <a:t> validate patterns in your report.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3200400"/>
            <a:ext cx="5303520" cy="298543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400" b="0" dirty="0">
                <a:solidFill>
                  <a:srgbClr val="28303C"/>
                </a:solidFill>
                <a:latin typeface="Aptos"/>
              </a:rPr>
              <a:t>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60695DE-1493-5130-0E44-AE7C8AB88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26274"/>
            <a:ext cx="4914900" cy="43891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2800" b="1">
                <a:solidFill>
                  <a:srgbClr val="142546"/>
                </a:solidFill>
                <a:latin typeface="Aptos"/>
              </a:rPr>
              <a:t>Task 9: Payment method relationships</a:t>
            </a:r>
          </a:p>
        </p:txBody>
      </p:sp>
      <p:sp>
        <p:nvSpPr>
          <p:cNvPr id="4" name="Rectangle 3"/>
          <p:cNvSpPr/>
          <p:nvPr/>
        </p:nvSpPr>
        <p:spPr>
          <a:xfrm flipV="1">
            <a:off x="640080" y="1106424"/>
            <a:ext cx="4754880" cy="45719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r"/>
            <a:r>
              <a:rPr sz="1000" b="0">
                <a:solidFill>
                  <a:srgbClr val="647080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64354"/>
            <a:ext cx="5183812" cy="298543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400" dirty="0">
                <a:solidFill>
                  <a:srgbClr val="142546"/>
                </a:solidFill>
                <a:latin typeface="Aptos"/>
              </a:rPr>
              <a:t>Does payment method vary by gender, age, category or mall?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60" y="1508760"/>
            <a:ext cx="22860" cy="4526280"/>
          </a:xfrm>
          <a:prstGeom prst="rect">
            <a:avLst/>
          </a:prstGeom>
          <a:solidFill>
            <a:srgbClr val="DA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97880" y="1783080"/>
            <a:ext cx="5303520" cy="513987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sz="1400" dirty="0">
                <a:solidFill>
                  <a:srgbClr val="142546"/>
                </a:solidFill>
                <a:latin typeface="Aptos"/>
              </a:rPr>
              <a:t>Cash is the most common method for both genders. </a:t>
            </a:r>
            <a:endParaRPr lang="en-US" sz="1400" dirty="0">
              <a:solidFill>
                <a:srgbClr val="142546"/>
              </a:solidFill>
              <a:latin typeface="Aptos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sz="1400" dirty="0">
                <a:solidFill>
                  <a:srgbClr val="142546"/>
                </a:solidFill>
                <a:latin typeface="Aptos"/>
              </a:rPr>
              <a:t>Compare proportions across groups, not only raw counts.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2CAA22A-10D1-DA32-F52F-16F6EEE50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1" y="1535756"/>
            <a:ext cx="4815840" cy="50296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2800" b="1">
                <a:solidFill>
                  <a:srgbClr val="142546"/>
                </a:solidFill>
                <a:latin typeface="Aptos"/>
              </a:rPr>
              <a:t>Task 10: Overall payment distribution</a:t>
            </a:r>
          </a:p>
        </p:txBody>
      </p:sp>
      <p:sp>
        <p:nvSpPr>
          <p:cNvPr id="4" name="Rectangle 3"/>
          <p:cNvSpPr/>
          <p:nvPr/>
        </p:nvSpPr>
        <p:spPr>
          <a:xfrm flipV="1">
            <a:off x="725620" y="1073684"/>
            <a:ext cx="4492359" cy="45719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r"/>
            <a:r>
              <a:rPr sz="1000" b="0">
                <a:solidFill>
                  <a:srgbClr val="647080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40" y="790819"/>
            <a:ext cx="4754880" cy="329321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600" dirty="0">
                <a:solidFill>
                  <a:srgbClr val="142546"/>
                </a:solidFill>
                <a:latin typeface="Aptos"/>
              </a:rPr>
              <a:t>Which payment method is used most often overall?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60" y="1508760"/>
            <a:ext cx="22860" cy="4526280"/>
          </a:xfrm>
          <a:prstGeom prst="rect">
            <a:avLst/>
          </a:prstGeom>
          <a:solidFill>
            <a:srgbClr val="DA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97880" y="1717695"/>
            <a:ext cx="5303520" cy="72943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sz="1400" dirty="0">
                <a:solidFill>
                  <a:srgbClr val="142546"/>
                </a:solidFill>
                <a:latin typeface="Aptos"/>
              </a:rPr>
              <a:t>Cash: 44,447 (44.7%)</a:t>
            </a:r>
            <a:endParaRPr lang="en-US" sz="1400" dirty="0">
              <a:solidFill>
                <a:srgbClr val="142546"/>
              </a:solidFill>
              <a:latin typeface="Aptos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sz="1400" dirty="0">
                <a:solidFill>
                  <a:srgbClr val="142546"/>
                </a:solidFill>
                <a:latin typeface="Aptos"/>
              </a:rPr>
              <a:t>Credit Card: 34,931 (35.1%)</a:t>
            </a:r>
            <a:endParaRPr lang="en-US" sz="1400" dirty="0">
              <a:solidFill>
                <a:srgbClr val="142546"/>
              </a:solidFill>
              <a:latin typeface="Aptos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sz="1400" dirty="0">
                <a:solidFill>
                  <a:srgbClr val="142546"/>
                </a:solidFill>
                <a:latin typeface="Aptos"/>
              </a:rPr>
              <a:t>Debit Card: 20,079 (20.2%).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2447125"/>
            <a:ext cx="5303520" cy="298543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sz="1400" b="0" dirty="0">
                <a:solidFill>
                  <a:srgbClr val="28303C"/>
                </a:solidFill>
                <a:latin typeface="Aptos"/>
              </a:rPr>
              <a:t>Cash is the leading method.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F6B5457-B281-7F09-B5BD-4EEB77BF0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88" y="1513185"/>
            <a:ext cx="5205072" cy="474005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13987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lang="en-US" sz="2800" b="1" dirty="0">
                <a:solidFill>
                  <a:srgbClr val="142546"/>
                </a:solidFill>
                <a:latin typeface="Aptos"/>
              </a:rPr>
              <a:t>Dashboard</a:t>
            </a:r>
            <a:endParaRPr sz="2800" b="1" dirty="0">
              <a:solidFill>
                <a:srgbClr val="142546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914400" cy="54864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r"/>
            <a:r>
              <a:rPr sz="1000" b="0">
                <a:solidFill>
                  <a:srgbClr val="647080"/>
                </a:solidFill>
                <a:latin typeface="Aptos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29260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ctr"/>
            <a:r>
              <a:rPr sz="1900" b="1">
                <a:solidFill>
                  <a:srgbClr val="142546"/>
                </a:solidFill>
                <a:latin typeface="Aptos"/>
              </a:rPr>
              <a:t>CUSTOMER DATA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10512"/>
            <a:ext cx="2514600" cy="868680"/>
          </a:xfrm>
          <a:prstGeom prst="roundRect">
            <a:avLst/>
          </a:prstGeom>
          <a:solidFill>
            <a:srgbClr val="F1F6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810512"/>
            <a:ext cx="73152" cy="86868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920240"/>
            <a:ext cx="2240280" cy="22860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100" b="1">
                <a:solidFill>
                  <a:srgbClr val="647080"/>
                </a:solidFill>
                <a:latin typeface="Aptos"/>
              </a:rPr>
              <a:t>Transactions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194560"/>
            <a:ext cx="2240280" cy="43891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2200" b="1">
                <a:solidFill>
                  <a:srgbClr val="142546"/>
                </a:solidFill>
                <a:latin typeface="Aptos"/>
              </a:rPr>
              <a:t>99,457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1810512"/>
            <a:ext cx="2514600" cy="868680"/>
          </a:xfrm>
          <a:prstGeom prst="roundRect">
            <a:avLst/>
          </a:prstGeom>
          <a:solidFill>
            <a:srgbClr val="F1F6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20439" y="1810512"/>
            <a:ext cx="73152" cy="86868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85031" y="1920240"/>
            <a:ext cx="2240280" cy="22860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100" b="1">
                <a:solidFill>
                  <a:srgbClr val="647080"/>
                </a:solidFill>
                <a:latin typeface="Aptos"/>
              </a:rPr>
              <a:t>Units sold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1" y="2194560"/>
            <a:ext cx="2240280" cy="43891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2200" b="1">
                <a:solidFill>
                  <a:srgbClr val="142546"/>
                </a:solidFill>
                <a:latin typeface="Aptos"/>
              </a:rPr>
              <a:t>298,712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1810512"/>
            <a:ext cx="2514600" cy="868680"/>
          </a:xfrm>
          <a:prstGeom prst="roundRect">
            <a:avLst/>
          </a:prstGeom>
          <a:solidFill>
            <a:srgbClr val="F1F6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59" y="1810512"/>
            <a:ext cx="73152" cy="868680"/>
          </a:xfrm>
          <a:prstGeom prst="rect">
            <a:avLst/>
          </a:prstGeom>
          <a:solidFill>
            <a:srgbClr val="EEB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1" y="1920240"/>
            <a:ext cx="2240280" cy="22860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100" b="1">
                <a:solidFill>
                  <a:srgbClr val="647080"/>
                </a:solidFill>
                <a:latin typeface="Aptos"/>
              </a:rPr>
              <a:t>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1" y="2194560"/>
            <a:ext cx="2240280" cy="43891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2200" b="1">
                <a:solidFill>
                  <a:srgbClr val="142546"/>
                </a:solidFill>
                <a:latin typeface="Aptos"/>
              </a:rPr>
              <a:t>TL 251.51M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810512"/>
            <a:ext cx="2514600" cy="868680"/>
          </a:xfrm>
          <a:prstGeom prst="roundRect">
            <a:avLst/>
          </a:prstGeom>
          <a:solidFill>
            <a:srgbClr val="F1F6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98280" y="1810512"/>
            <a:ext cx="73152" cy="86868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62872" y="1920240"/>
            <a:ext cx="2240280" cy="22860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1100" b="1">
                <a:solidFill>
                  <a:srgbClr val="647080"/>
                </a:solidFill>
                <a:latin typeface="Aptos"/>
              </a:rPr>
              <a:t>Avg. transaction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2194560"/>
            <a:ext cx="2240280" cy="43891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2200" b="1">
                <a:solidFill>
                  <a:srgbClr val="142546"/>
                </a:solidFill>
                <a:latin typeface="Aptos"/>
              </a:rPr>
              <a:t>TL 2,528.79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2971800"/>
            <a:ext cx="3383280" cy="1051560"/>
          </a:xfrm>
          <a:prstGeom prst="roundRect">
            <a:avLst/>
          </a:prstGeom>
          <a:solidFill>
            <a:srgbClr val="F1F6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3136392"/>
            <a:ext cx="3200400" cy="2743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ctr"/>
            <a:r>
              <a:rPr sz="1400" b="1">
                <a:solidFill>
                  <a:srgbClr val="142546"/>
                </a:solidFill>
                <a:latin typeface="Aptos"/>
              </a:rPr>
              <a:t>Gender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520440"/>
            <a:ext cx="3200400" cy="22860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ctr"/>
            <a:r>
              <a:rPr sz="1000" b="0">
                <a:solidFill>
                  <a:srgbClr val="647080"/>
                </a:solidFill>
                <a:latin typeface="Aptos"/>
              </a:rPr>
              <a:t>Insert matching Power BI visual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2971800"/>
            <a:ext cx="3383280" cy="1051560"/>
          </a:xfrm>
          <a:prstGeom prst="roundRect">
            <a:avLst/>
          </a:prstGeom>
          <a:solidFill>
            <a:srgbClr val="F1F6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0559" y="3136392"/>
            <a:ext cx="3200400" cy="2743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ctr"/>
            <a:r>
              <a:rPr sz="1400" b="1">
                <a:solidFill>
                  <a:srgbClr val="142546"/>
                </a:solidFill>
                <a:latin typeface="Aptos"/>
              </a:rPr>
              <a:t>Category revenue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3520440"/>
            <a:ext cx="3200400" cy="22860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ctr"/>
            <a:r>
              <a:rPr sz="1000" b="0">
                <a:solidFill>
                  <a:srgbClr val="647080"/>
                </a:solidFill>
                <a:latin typeface="Aptos"/>
              </a:rPr>
              <a:t>Insert matching Power BI visual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2971800"/>
            <a:ext cx="3383280" cy="1051560"/>
          </a:xfrm>
          <a:prstGeom prst="roundRect">
            <a:avLst/>
          </a:prstGeom>
          <a:solidFill>
            <a:srgbClr val="F1F6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38160" y="3136392"/>
            <a:ext cx="3200400" cy="2743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ctr"/>
            <a:r>
              <a:rPr sz="1400" b="1">
                <a:solidFill>
                  <a:srgbClr val="142546"/>
                </a:solidFill>
                <a:latin typeface="Aptos"/>
              </a:rPr>
              <a:t>Age revenue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3520440"/>
            <a:ext cx="3200400" cy="22860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ctr"/>
            <a:r>
              <a:rPr sz="1000" b="0">
                <a:solidFill>
                  <a:srgbClr val="647080"/>
                </a:solidFill>
                <a:latin typeface="Aptos"/>
              </a:rPr>
              <a:t>Insert matching Power BI visual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343400"/>
            <a:ext cx="3383280" cy="1051560"/>
          </a:xfrm>
          <a:prstGeom prst="roundRect">
            <a:avLst/>
          </a:prstGeom>
          <a:solidFill>
            <a:srgbClr val="F1F6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4507992"/>
            <a:ext cx="3200400" cy="2743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ctr"/>
            <a:r>
              <a:rPr sz="1400" b="1">
                <a:solidFill>
                  <a:srgbClr val="142546"/>
                </a:solidFill>
                <a:latin typeface="Aptos"/>
              </a:rPr>
              <a:t>Payment method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892040"/>
            <a:ext cx="3200400" cy="22860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ctr"/>
            <a:r>
              <a:rPr sz="1000" b="0">
                <a:solidFill>
                  <a:srgbClr val="647080"/>
                </a:solidFill>
                <a:latin typeface="Aptos"/>
              </a:rPr>
              <a:t>Insert matching Power BI visual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0" y="4343400"/>
            <a:ext cx="3383280" cy="1051560"/>
          </a:xfrm>
          <a:prstGeom prst="roundRect">
            <a:avLst/>
          </a:prstGeom>
          <a:solidFill>
            <a:srgbClr val="F1F6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80559" y="4507992"/>
            <a:ext cx="3200400" cy="2743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ctr"/>
            <a:r>
              <a:rPr sz="1400" b="1">
                <a:solidFill>
                  <a:srgbClr val="142546"/>
                </a:solidFill>
                <a:latin typeface="Aptos"/>
              </a:rPr>
              <a:t>Mall revenue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59" y="4892040"/>
            <a:ext cx="3200400" cy="22860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ctr"/>
            <a:r>
              <a:rPr sz="1000" b="0">
                <a:solidFill>
                  <a:srgbClr val="647080"/>
                </a:solidFill>
                <a:latin typeface="Aptos"/>
              </a:rPr>
              <a:t>Insert matching Power BI visual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4343400"/>
            <a:ext cx="3383280" cy="1051560"/>
          </a:xfrm>
          <a:prstGeom prst="roundRect">
            <a:avLst/>
          </a:prstGeom>
          <a:solidFill>
            <a:srgbClr val="F1F6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38160" y="4507992"/>
            <a:ext cx="3200400" cy="2743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ctr"/>
            <a:r>
              <a:rPr sz="1400" b="1">
                <a:solidFill>
                  <a:srgbClr val="142546"/>
                </a:solidFill>
                <a:latin typeface="Aptos"/>
              </a:rPr>
              <a:t>Monthly trend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4892040"/>
            <a:ext cx="3200400" cy="22860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ctr"/>
            <a:r>
              <a:rPr sz="1000" b="0">
                <a:solidFill>
                  <a:srgbClr val="647080"/>
                </a:solidFill>
                <a:latin typeface="Aptos"/>
              </a:rPr>
              <a:t>Insert matching Power BI visual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806440"/>
            <a:ext cx="10698480" cy="32004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ctr"/>
            <a:r>
              <a:rPr sz="1300" b="1">
                <a:solidFill>
                  <a:srgbClr val="009696"/>
                </a:solidFill>
                <a:latin typeface="Aptos"/>
              </a:rPr>
              <a:t>Slicers: Gender • Age Group • Category • Payment Method • Mall • Date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11B534D0-3793-3DE7-E83E-406509C08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58" y="1170432"/>
            <a:ext cx="11598442" cy="5166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822960"/>
            <a:ext cx="10424160" cy="5029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92826"/>
            <a:ext cx="9875520" cy="2560320"/>
          </a:xfrm>
          <a:prstGeom prst="rect">
            <a:avLst/>
          </a:prstGeom>
          <a:noFill/>
        </p:spPr>
        <p:txBody>
          <a:bodyPr wrap="square" lIns="109728" tIns="54864" r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dirty="0"/>
              <a:t>The dataset contains 99,457 transactions across 10 malls.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dirty="0"/>
              <a:t>Gender, age, category and payment visuals reveal shopping patterns.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dirty="0"/>
              <a:t>KPI cards and slicers make the report easier to explore.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dirty="0"/>
              <a:t>Recommendations should be tested against margins, inventory and future sales.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080760"/>
            <a:ext cx="3657600" cy="36576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l"/>
            <a:r>
              <a:rPr sz="2200" b="1">
                <a:solidFill>
                  <a:srgbClr val="EEB138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300</TotalTime>
  <Words>792</Words>
  <Application>Microsoft Office PowerPoint</Application>
  <PresentationFormat>Widescreen</PresentationFormat>
  <Paragraphs>147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</vt:lpstr>
      <vt:lpstr>Calibri</vt:lpstr>
      <vt:lpstr>Felix Titling</vt:lpstr>
      <vt:lpstr>Goudy Old Style</vt:lpstr>
      <vt:lpstr>Wingdings</vt:lpstr>
      <vt:lpstr>Archway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honeyhavila5@outlook.com</cp:lastModifiedBy>
  <cp:revision>3</cp:revision>
  <dcterms:created xsi:type="dcterms:W3CDTF">2013-01-27T09:14:16Z</dcterms:created>
  <dcterms:modified xsi:type="dcterms:W3CDTF">2026-10-15T10:51:05Z</dcterms:modified>
  <cp:category/>
</cp:coreProperties>
</file>